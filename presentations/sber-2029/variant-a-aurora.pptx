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Кол-во</c:v>
                </c:pt>
              </c:strCache>
            </c:strRef>
          </c:tx>
          <c:spPr>
            <a:solidFill>
              <a:srgbClr val="159CC2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Отказ суда во взыскании ПЗ</c:v>
                </c:pt>
                <c:pt idx="1">
                  <c:v>Уточнение сроков списания/вос-ния</c:v>
                </c:pt>
                <c:pt idx="2">
                  <c:v>Списание с в/б более 5 лет</c:v>
                </c:pt>
                <c:pt idx="3">
                  <c:v>Вопрос о списания ПЗ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123</c:v>
                </c:pt>
                <c:pt idx="1">
                  <c:v>138</c:v>
                </c:pt>
                <c:pt idx="2">
                  <c:v>288</c:v>
                </c:pt>
                <c:pt idx="3">
                  <c:v>490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EAFCFF"/>
                  </a:solidFill>
                  <a:latin typeface="Ones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B6CCC6"/>
                </a:solidFill>
                <a:latin typeface="Ones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latin typeface="Ones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Кол-во клиентов(тыс)</c:v>
                </c:pt>
              </c:strCache>
            </c:strRef>
          </c:tx>
          <c:spPr>
            <a:solidFill>
              <a:srgbClr val="159CC2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B6CCC6"/>
                    </a:solidFill>
                    <a:latin typeface="Ones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129.4</c:v>
                </c:pt>
                <c:pt idx="1">
                  <c:v>209.6</c:v>
                </c:pt>
                <c:pt idx="2">
                  <c:v>98.3</c:v>
                </c:pt>
                <c:pt idx="3">
                  <c:v>175.1</c:v>
                </c:pt>
                <c:pt idx="4">
                  <c:v>186.9</c:v>
                </c:pt>
                <c:pt idx="5">
                  <c:v>214.5</c:v>
                </c:pt>
                <c:pt idx="6">
                  <c:v>283.2</c:v>
                </c:pt>
                <c:pt idx="7">
                  <c:v>261.8</c:v>
                </c:pt>
                <c:pt idx="8">
                  <c:v>236.8</c:v>
                </c:pt>
                <c:pt idx="9">
                  <c:v>101.8</c:v>
                </c:pt>
                <c:pt idx="10">
                  <c:v>263.5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Кол-во кредитов(тыс.)</c:v>
                </c:pt>
              </c:strCache>
            </c:strRef>
          </c:tx>
          <c:spPr>
            <a:solidFill>
              <a:srgbClr val="21A038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B6CCC6"/>
                    </a:solidFill>
                    <a:latin typeface="Ones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157.7</c:v>
                </c:pt>
                <c:pt idx="1">
                  <c:v>254.9</c:v>
                </c:pt>
                <c:pt idx="2">
                  <c:v>121.7</c:v>
                </c:pt>
                <c:pt idx="3">
                  <c:v>199.6</c:v>
                </c:pt>
                <c:pt idx="4">
                  <c:v>226.5</c:v>
                </c:pt>
                <c:pt idx="5">
                  <c:v>258.6</c:v>
                </c:pt>
                <c:pt idx="6">
                  <c:v>341.0</c:v>
                </c:pt>
                <c:pt idx="7">
                  <c:v>309.9</c:v>
                </c:pt>
                <c:pt idx="8">
                  <c:v>281.2</c:v>
                </c:pt>
                <c:pt idx="9">
                  <c:v>129.4</c:v>
                </c:pt>
                <c:pt idx="10">
                  <c:v>322.1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Сумма(млрд. руб.)</c:v>
                </c:pt>
              </c:strCache>
            </c:strRef>
          </c:tx>
          <c:spPr>
            <a:solidFill>
              <a:srgbClr val="35D6A0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B6CCC6"/>
                    </a:solidFill>
                    <a:latin typeface="Ones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14.5</c:v>
                </c:pt>
                <c:pt idx="1">
                  <c:v>21.6</c:v>
                </c:pt>
                <c:pt idx="2">
                  <c:v>13.2</c:v>
                </c:pt>
                <c:pt idx="3">
                  <c:v>39.8</c:v>
                </c:pt>
                <c:pt idx="4">
                  <c:v>20.2</c:v>
                </c:pt>
                <c:pt idx="5">
                  <c:v>28.2</c:v>
                </c:pt>
                <c:pt idx="6">
                  <c:v>28.7</c:v>
                </c:pt>
                <c:pt idx="7">
                  <c:v>31.8</c:v>
                </c:pt>
                <c:pt idx="8">
                  <c:v>27.9</c:v>
                </c:pt>
                <c:pt idx="9">
                  <c:v>11.8</c:v>
                </c:pt>
                <c:pt idx="10">
                  <c:v>35.5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latin typeface="Ones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0700" y="584200"/>
            <a:ext cx="11226800" cy="266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spc="323">
                <a:solidFill>
                  <a:srgbClr val="FFFFFF"/>
                </a:solidFill>
                <a:latin typeface="Unbounded"/>
              </a:rPr>
              <a:t>ПАНЕЛЬНОЕ ИНТЕРВЬЮ НА ПОЗИЦИЮ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850900"/>
            <a:ext cx="8661400" cy="10987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spc="-74">
                <a:solidFill>
                  <a:srgbClr val="FFFFFF"/>
                </a:solidFill>
                <a:latin typeface="Unbounded"/>
              </a:rPr>
              <a:t>Руководитель направления</a:t>
            </a:r>
            <a:br/>
            <a:r>
              <a:rPr sz="3400" b="1" spc="-74">
                <a:solidFill>
                  <a:srgbClr val="FFFFFF"/>
                </a:solidFill>
                <a:latin typeface="Unbounded"/>
              </a:rPr>
              <a:t>списания задолженности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700" y="3371949"/>
            <a:ext cx="2849264" cy="482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>
                <a:solidFill>
                  <a:srgbClr val="FFFFFF"/>
                </a:solidFill>
                <a:latin typeface="Unbounded"/>
              </a:rPr>
              <a:t>Артём Рудь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1564" y="3168749"/>
            <a:ext cx="19902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Onest"/>
              </a:rPr>
              <a:t>ПЦП ЦФО г. Воронеж</a:t>
            </a:r>
            <a:br/>
            <a:r>
              <a:rPr sz="1400" b="0">
                <a:solidFill>
                  <a:srgbClr val="FFFFFF"/>
                </a:solidFill>
                <a:latin typeface="Onest"/>
              </a:rPr>
              <a:t>18.08.2026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" y="5480050"/>
            <a:ext cx="78994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0">
                <a:solidFill>
                  <a:srgbClr val="FFFFFF"/>
                </a:solidFill>
                <a:latin typeface="Onest"/>
              </a:rPr>
              <a:t>Участие направления «Списание задолженности» в реализации стратегии 2029. </a:t>
            </a:r>
            <a:r>
              <a:rPr sz="2250" b="1">
                <a:solidFill>
                  <a:srgbClr val="FFFFFF"/>
                </a:solidFill>
                <a:latin typeface="Onest"/>
              </a:rPr>
              <a:t>Роль руководителя.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0700" y="304800"/>
            <a:ext cx="11226800" cy="241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spc="240">
                <a:solidFill>
                  <a:srgbClr val="35D6A0"/>
                </a:solidFill>
                <a:latin typeface="Unbounded"/>
              </a:rPr>
              <a:t>01 — СТРАТЕГИЯ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508000"/>
            <a:ext cx="112268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spc="-45">
                <a:solidFill>
                  <a:srgbClr val="FFFFFF"/>
                </a:solidFill>
                <a:latin typeface="Unbounded"/>
              </a:rPr>
              <a:t>«Списание задолженности» в реализации </a:t>
            </a:r>
            <a:r>
              <a:rPr sz="2500" b="1" spc="-45">
                <a:solidFill>
                  <a:srgbClr val="000000"/>
                </a:solidFill>
                <a:latin typeface="Unbounded"/>
              </a:rPr>
              <a:t>стратегии 2029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550" y="2889250"/>
            <a:ext cx="2403475" cy="74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FFFFF"/>
                </a:solidFill>
                <a:latin typeface="Unbounded"/>
              </a:rPr>
              <a:t>Оптимизация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7425" y="2889250"/>
            <a:ext cx="2403475" cy="74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FFFFF"/>
                </a:solidFill>
                <a:latin typeface="Unbounded"/>
              </a:rPr>
              <a:t>Цифровизация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7300" y="2889250"/>
            <a:ext cx="2403475" cy="74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FFFFF"/>
                </a:solidFill>
                <a:latin typeface="Unbounded"/>
              </a:rPr>
              <a:t>Разбор хвостов/передача функционала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7175" y="2889250"/>
            <a:ext cx="2403475" cy="74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FFFFF"/>
                </a:solidFill>
                <a:latin typeface="Unbounded"/>
              </a:rPr>
              <a:t>Работа с командой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50" y="3759200"/>
            <a:ext cx="2403475" cy="1509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4781" indent="-154781">
              <a:lnSpc>
                <a:spcPct val="150000"/>
              </a:lnSpc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Разделить мотивированные суждение на типовые и нетиповые;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Автоматическое списание по Актам о невозможности/Банкротству/ 112% менее КПКИ без участия сотрудника списания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425" y="3759200"/>
            <a:ext cx="2403475" cy="11382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4781" indent="-154781">
              <a:lnSpc>
                <a:spcPct val="150000"/>
              </a:lnSpc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Использование AI для разделения и подготовки мотивированных суждений типовых/нетиповых;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Интеграция Калита – ВРМ/ЕКП/ТКП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7300" y="3759200"/>
            <a:ext cx="2403475" cy="17954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4781" indent="-154781">
              <a:lnSpc>
                <a:spcPct val="150000"/>
              </a:lnSpc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Выход в онлайн по всем видам списания;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Внебаланс свыше 5 лет;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Списание Нот тарифа и ГП;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Списание по 391 ФЗ;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Снижение объема обращений клиентов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7175" y="3759200"/>
            <a:ext cx="2403475" cy="225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4781" indent="-154781">
              <a:lnSpc>
                <a:spcPct val="150000"/>
              </a:lnSpc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Развитие готовности сотрудников активно обучаться новым навыкам;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Внедрение человекоцентричных ценностей;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Приоритизация удержания и мотивации;</a:t>
            </a:r>
          </a:p>
          <a:p>
            <a:pPr algn="l" marL="154781" indent="-154781">
              <a:lnSpc>
                <a:spcPct val="150000"/>
              </a:lnSpc>
              <a:spcBef>
                <a:spcPts val="536"/>
              </a:spcBef>
              <a:buClr>
                <a:srgbClr val="35D6A0"/>
              </a:buClr>
              <a:buFont typeface="Arial"/>
              <a:buChar char="•"/>
            </a:pPr>
            <a:r>
              <a:rPr sz="975" b="0">
                <a:solidFill>
                  <a:srgbClr val="B6CCC6"/>
                </a:solidFill>
                <a:latin typeface="Onest"/>
              </a:rPr>
              <a:t>Популяризация подхода win-win в работе личным примером руководителя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0700" y="304800"/>
            <a:ext cx="11226800" cy="241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spc="240">
                <a:solidFill>
                  <a:srgbClr val="35D6A0"/>
                </a:solidFill>
                <a:latin typeface="Unbounded"/>
              </a:rPr>
              <a:t>02 — 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508000"/>
            <a:ext cx="11226800" cy="4635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spc="-45">
                <a:solidFill>
                  <a:srgbClr val="FFFFFF"/>
                </a:solidFill>
                <a:latin typeface="Unbounded"/>
              </a:rPr>
              <a:t>Оптимизация/Цифровизация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700" y="1562100"/>
            <a:ext cx="2625923" cy="12669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0" b="1" spc="-463">
                <a:solidFill>
                  <a:srgbClr val="76E6C8"/>
                </a:solidFill>
                <a:latin typeface="Unbounded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0" y="2717800"/>
            <a:ext cx="3677741" cy="12669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0" b="1" spc="-463">
                <a:solidFill>
                  <a:srgbClr val="76E6C8"/>
                </a:solidFill>
                <a:latin typeface="Unbounded"/>
              </a:rPr>
              <a:t>47</a:t>
            </a:r>
            <a:r>
              <a:rPr sz="6728" b="1" baseline="36000" spc="-463">
                <a:solidFill>
                  <a:srgbClr val="76E6C8"/>
                </a:solidFill>
                <a:latin typeface="Unbounded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100" y="4114800"/>
            <a:ext cx="3677741" cy="12669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0" b="1" spc="-463">
                <a:solidFill>
                  <a:srgbClr val="76E6C8"/>
                </a:solidFill>
                <a:latin typeface="Unbounded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" y="2905224"/>
            <a:ext cx="2882900" cy="10878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B6CCC6"/>
                </a:solidFill>
                <a:latin typeface="Onest"/>
              </a:rPr>
              <a:t>Высвобождение ПШЕ за счет мероприятий в рамках оптимизации и внедрения AI агента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0" y="4060924"/>
            <a:ext cx="3136900" cy="601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B6CCC6"/>
                </a:solidFill>
                <a:latin typeface="Onest"/>
              </a:rPr>
              <a:t>Процент от общей численности Направления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9100" y="5457924"/>
            <a:ext cx="3403600" cy="601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B6CCC6"/>
                </a:solidFill>
                <a:latin typeface="Onest"/>
              </a:rPr>
              <a:t>Экономический Эффект за счет ФОТ (млн. руб.)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9650" y="1568450"/>
            <a:ext cx="2895600" cy="1399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6687" indent="-166687">
              <a:lnSpc>
                <a:spcPct val="148000"/>
              </a:lnSpc>
              <a:buClr>
                <a:srgbClr val="35D6A0"/>
              </a:buClr>
              <a:buFont typeface="Arial"/>
              <a:buChar char="•"/>
            </a:pPr>
            <a:r>
              <a:rPr sz="1050" b="0">
                <a:solidFill>
                  <a:srgbClr val="B6CCC6"/>
                </a:solidFill>
                <a:latin typeface="Onest"/>
              </a:rPr>
              <a:t>Разделить мотивированные суждение на типовые и нетиповые;</a:t>
            </a:r>
          </a:p>
          <a:p>
            <a:pPr algn="l" marL="166687" indent="-166687">
              <a:lnSpc>
                <a:spcPct val="148000"/>
              </a:lnSpc>
              <a:spcBef>
                <a:spcPts val="577"/>
              </a:spcBef>
              <a:buClr>
                <a:srgbClr val="35D6A0"/>
              </a:buClr>
              <a:buFont typeface="Arial"/>
              <a:buChar char="•"/>
            </a:pPr>
            <a:r>
              <a:rPr sz="1050" b="0">
                <a:solidFill>
                  <a:srgbClr val="B6CCC6"/>
                </a:solidFill>
                <a:latin typeface="Onest"/>
              </a:rPr>
              <a:t>Автоматическое списание по Актам о невозможности/Банкротству/ 112% менее КПКИ без участия сотрудника списания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58800" y="1746250"/>
          <a:ext cx="6426200" cy="14033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58800" y="4095750"/>
          <a:ext cx="7289800" cy="20701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58800" y="3289300"/>
            <a:ext cx="82550" cy="82550"/>
          </a:xfrm>
          <a:prstGeom prst="roundRect">
            <a:avLst/>
          </a:prstGeom>
          <a:solidFill>
            <a:srgbClr val="15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3238500"/>
            <a:ext cx="592074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B6CCC6"/>
                </a:solidFill>
                <a:latin typeface="Onest"/>
              </a:rPr>
              <a:t>Кол-во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0553" y="3289300"/>
            <a:ext cx="82550" cy="82550"/>
          </a:xfrm>
          <a:prstGeom prst="round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0253" y="3238500"/>
            <a:ext cx="458216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B6CCC6"/>
                </a:solidFill>
                <a:latin typeface="Onest"/>
              </a:rPr>
              <a:t>Доля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6381750"/>
            <a:ext cx="82550" cy="82550"/>
          </a:xfrm>
          <a:prstGeom prst="roundRect">
            <a:avLst/>
          </a:prstGeom>
          <a:solidFill>
            <a:srgbClr val="15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6330950"/>
            <a:ext cx="152908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B6CCC6"/>
                </a:solidFill>
                <a:latin typeface="Onest"/>
              </a:rPr>
              <a:t>Кол-во клиентов(тыс)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035" y="6381750"/>
            <a:ext cx="82550" cy="82550"/>
          </a:xfrm>
          <a:prstGeom prst="round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1735" y="6330950"/>
            <a:ext cx="1596009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B6CCC6"/>
                </a:solidFill>
                <a:latin typeface="Onest"/>
              </a:rPr>
              <a:t>Кол-во кредитов(тыс.)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7617" y="6381750"/>
            <a:ext cx="82550" cy="82550"/>
          </a:xfrm>
          <a:prstGeom prst="round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7317" y="6330950"/>
            <a:ext cx="1328293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B6CCC6"/>
                </a:solidFill>
                <a:latin typeface="Onest"/>
              </a:rPr>
              <a:t>Сумма(млрд. руб.)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" y="304800"/>
            <a:ext cx="11226800" cy="241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spc="240">
                <a:solidFill>
                  <a:srgbClr val="35D6A0"/>
                </a:solidFill>
                <a:latin typeface="Unbounded"/>
              </a:rPr>
              <a:t>03 — ОБЪЁМЫ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00" y="508000"/>
            <a:ext cx="11226800" cy="4635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spc="-45">
                <a:solidFill>
                  <a:srgbClr val="FFFFFF"/>
                </a:solidFill>
                <a:latin typeface="Unbounded"/>
              </a:rPr>
              <a:t>Разбор хвостов/передача функционала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00" y="1193800"/>
            <a:ext cx="74422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Unbounded"/>
              </a:rPr>
              <a:t>Обращение клиентов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700" y="3543300"/>
            <a:ext cx="74422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Unbounded"/>
              </a:rPr>
              <a:t>Внебаланс свыше 5 лет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700" y="1435100"/>
            <a:ext cx="7442200" cy="2476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E9A94"/>
                </a:solidFill>
                <a:latin typeface="Onest"/>
              </a:rPr>
              <a:t>Количество обращений и доля в общем потоке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00" y="3784600"/>
            <a:ext cx="7442200" cy="2476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E9A94"/>
                </a:solidFill>
                <a:latin typeface="Onest"/>
              </a:rPr>
              <a:t>Клиенты и кредиты — тыс., сумма — млрд. руб.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2950" y="2381250"/>
            <a:ext cx="3162300" cy="325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DF7F3"/>
                </a:solidFill>
                <a:latin typeface="Onest"/>
              </a:rPr>
              <a:t>Довзыскание 112% - </a:t>
            </a:r>
            <a:r>
              <a:rPr sz="1150" b="0">
                <a:solidFill>
                  <a:srgbClr val="FFFFFF"/>
                </a:solidFill>
                <a:latin typeface="Onest"/>
              </a:rPr>
              <a:t>10,5 млрд. руб.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2950" y="2712640"/>
            <a:ext cx="3162300" cy="325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DF7F3"/>
                </a:solidFill>
                <a:latin typeface="Onest"/>
              </a:rPr>
              <a:t>Банкротство/Иные – </a:t>
            </a:r>
            <a:r>
              <a:rPr sz="1150" b="0">
                <a:solidFill>
                  <a:srgbClr val="FFFFFF"/>
                </a:solidFill>
                <a:latin typeface="Onest"/>
              </a:rPr>
              <a:t>10,3 млрд. руб.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2950" y="3044031"/>
            <a:ext cx="3162300" cy="325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DF7F3"/>
                </a:solidFill>
                <a:latin typeface="Onest"/>
              </a:rPr>
              <a:t>Списание НОТ тарифа/ГП – </a:t>
            </a:r>
            <a:r>
              <a:rPr sz="1150" b="0">
                <a:solidFill>
                  <a:srgbClr val="FFFFFF"/>
                </a:solidFill>
                <a:latin typeface="Onest"/>
              </a:rPr>
              <a:t>11 млн. руб.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2950" y="3375421"/>
            <a:ext cx="3162300" cy="510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DF7F3"/>
                </a:solidFill>
                <a:latin typeface="Onest"/>
              </a:rPr>
              <a:t>Списание по 391 ФЗ – </a:t>
            </a:r>
            <a:r>
              <a:rPr sz="1150" b="0">
                <a:solidFill>
                  <a:srgbClr val="FFFFFF"/>
                </a:solidFill>
                <a:latin typeface="Onest"/>
              </a:rPr>
              <a:t>43 млн. руб.</a:t>
            </a:r>
            <a:br/>
            <a:r>
              <a:rPr sz="900" b="0">
                <a:solidFill>
                  <a:srgbClr val="7E9A94"/>
                </a:solidFill>
                <a:latin typeface="Onest"/>
              </a:rPr>
              <a:t>(месяц)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1200" y="1749425"/>
            <a:ext cx="9017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35D6A0"/>
                </a:solidFill>
                <a:latin typeface="Unbounded"/>
              </a:rPr>
              <a:t>36,59%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1200" y="2124075"/>
            <a:ext cx="9017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35D6A0"/>
                </a:solidFill>
                <a:latin typeface="Unbounded"/>
              </a:rPr>
              <a:t>21,51%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1200" y="2498725"/>
            <a:ext cx="9017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35D6A0"/>
                </a:solidFill>
                <a:latin typeface="Unbounded"/>
              </a:rPr>
              <a:t>10,31%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1200" y="2873375"/>
            <a:ext cx="9017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35D6A0"/>
                </a:solidFill>
                <a:latin typeface="Unbounded"/>
              </a:rPr>
              <a:t>9,19%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0700" y="304800"/>
            <a:ext cx="11226800" cy="241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spc="240">
                <a:solidFill>
                  <a:srgbClr val="35D6A0"/>
                </a:solidFill>
                <a:latin typeface="Unbounded"/>
              </a:rPr>
              <a:t>04 — ЛЮДИ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508000"/>
            <a:ext cx="11226800" cy="4635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spc="-45">
                <a:solidFill>
                  <a:srgbClr val="FFFFFF"/>
                </a:solidFill>
                <a:latin typeface="Unbounded"/>
              </a:rPr>
              <a:t>Работа с командой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550" y="1887537"/>
            <a:ext cx="390326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5D6A0"/>
                </a:solidFill>
                <a:latin typeface="Unbounde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550" y="3173412"/>
            <a:ext cx="443011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5D6A0"/>
                </a:solidFill>
                <a:latin typeface="Unbounde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50" y="4459287"/>
            <a:ext cx="443706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5D6A0"/>
                </a:solidFill>
                <a:latin typeface="Unbounde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" y="5745162"/>
            <a:ext cx="447278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5D6A0"/>
                </a:solidFill>
                <a:latin typeface="Unbounde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450" y="1780282"/>
            <a:ext cx="3860800" cy="53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75" b="0">
                <a:solidFill>
                  <a:srgbClr val="EDF7F3"/>
                </a:solidFill>
                <a:latin typeface="Onest"/>
              </a:rPr>
              <a:t>Развитие готовности сотрудников активно обучаться новым навыкам;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450" y="3170535"/>
            <a:ext cx="3333353" cy="3231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75" b="0">
                <a:solidFill>
                  <a:srgbClr val="EDF7F3"/>
                </a:solidFill>
                <a:latin typeface="Onest"/>
              </a:rPr>
              <a:t>Внедрение человекоцентричных ценностей;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450" y="4456410"/>
            <a:ext cx="3102669" cy="3231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75" b="0">
                <a:solidFill>
                  <a:srgbClr val="EDF7F3"/>
                </a:solidFill>
                <a:latin typeface="Onest"/>
              </a:rPr>
              <a:t>Приоритизация удержания и мотивации;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450" y="5637907"/>
            <a:ext cx="3860800" cy="532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75" b="0">
                <a:solidFill>
                  <a:srgbClr val="EDF7F3"/>
                </a:solidFill>
                <a:latin typeface="Onest"/>
              </a:rPr>
              <a:t>Популяризация подхода win-win в работе личным примером руководителя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0" y="1409700"/>
            <a:ext cx="6223000" cy="1273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170656" indent="-170656">
              <a:lnSpc>
                <a:spcPct val="135000"/>
              </a:lnSpc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Месяц новых знаний (тренинги, мастер-классы)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Программа наставничества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Библиотека лучших практик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0" y="2695575"/>
            <a:ext cx="6223000" cy="1273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170656" indent="-170656">
              <a:lnSpc>
                <a:spcPct val="135000"/>
              </a:lnSpc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Открытый диалог с руководством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Оценка удовлетворённости сотрудников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Поддержка здоровья и благополучия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0" y="3981450"/>
            <a:ext cx="6223000" cy="1273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170656" indent="-170656">
              <a:lnSpc>
                <a:spcPct val="135000"/>
              </a:lnSpc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Персонализированные планы развития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5+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Ротация кадров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0" y="5267325"/>
            <a:ext cx="6223000" cy="1273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170656" indent="-170656">
              <a:lnSpc>
                <a:spcPct val="135000"/>
              </a:lnSpc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Тренинги по эффективной коммуникации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Личный пример руководителей</a:t>
            </a:r>
          </a:p>
          <a:p>
            <a:pPr algn="l" marL="170656" indent="-170656">
              <a:lnSpc>
                <a:spcPct val="135000"/>
              </a:lnSpc>
              <a:spcBef>
                <a:spcPts val="591"/>
              </a:spcBef>
              <a:buClr>
                <a:srgbClr val="35D6A0"/>
              </a:buClr>
              <a:buFont typeface="Arial"/>
              <a:buChar char="•"/>
            </a:pPr>
            <a:r>
              <a:rPr sz="1075" b="0">
                <a:solidFill>
                  <a:srgbClr val="B6CCC6"/>
                </a:solidFill>
                <a:latin typeface="Onest"/>
              </a:rPr>
              <a:t>Формирование культуры открытости и сотрудничества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48779" y="2971800"/>
            <a:ext cx="9570541" cy="927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5200" b="1" spc="-104">
                <a:solidFill>
                  <a:srgbClr val="FFFFFF"/>
                </a:solidFill>
                <a:latin typeface="Unbounded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